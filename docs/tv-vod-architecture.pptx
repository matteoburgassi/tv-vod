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TV Vod</a:t>
            </a:r>
          </a:p>
          <a:p>
            <a:pPr algn="ctr"/>
            <a:r>
              <a:rPr sz="4000" b="0">
                <a:solidFill>
                  <a:srgbClr val="3B82F6"/>
                </a:solidFill>
                <a:latin typeface="Calibri"/>
              </a:rPr>
              <a:t>Architecture</a:t>
            </a:r>
          </a:p>
          <a:p>
            <a:pPr algn="ctr">
              <a:spcBef>
                <a:spcPts val="2400"/>
              </a:spcBef>
            </a:pPr>
            <a:r>
              <a:rPr sz="2000" b="0">
                <a:solidFill>
                  <a:srgbClr val="CCCCCC"/>
                </a:solidFill>
                <a:latin typeface="Calibri"/>
              </a:rPr>
              <a:t>From decision to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Starting Point — PlayVOD</a:t>
            </a:r>
          </a:p>
          <a:p>
            <a:r>
              <a:rPr sz="2000" b="0">
                <a:solidFill>
                  <a:srgbClr val="CCCCCC"/>
                </a:solidFill>
                <a:latin typeface="Calibri"/>
              </a:rPr>
              <a:t>We already have a native streaming app on smartphones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Platforms: </a:t>
            </a:r>
            <a:r>
              <a:rPr sz="1800" b="0">
                <a:solidFill>
                  <a:srgbClr val="FFFFFF"/>
                </a:solidFill>
                <a:latin typeface="Calibri"/>
              </a:rPr>
              <a:t>Android (Kotlin) + iOS (Swift)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Core stack: </a:t>
            </a:r>
            <a:r>
              <a:rPr sz="1800" b="0">
                <a:solidFill>
                  <a:srgbClr val="FFFFFF"/>
                </a:solidFill>
                <a:latin typeface="Calibri"/>
              </a:rPr>
              <a:t>native DRM player SDK (per-platform), licence management, content APIs, business logic, user authentication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Team expertise: </a:t>
            </a:r>
            <a:r>
              <a:rPr sz="1800" b="0">
                <a:solidFill>
                  <a:srgbClr val="FFFFFF"/>
                </a:solidFill>
                <a:latin typeface="Calibri"/>
              </a:rPr>
              <a:t>full ownership of the codebase — we build, ship and maintain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2011680"/>
            <a:ext cx="4846320" cy="118872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20840" y="21031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2C55E"/>
                </a:solidFill>
                <a:latin typeface="Calibri"/>
              </a:rPr>
              <a:t>Android (Kotlin)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24688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CCCCC"/>
                </a:solidFill>
                <a:latin typeface="Calibri"/>
              </a:rPr>
              <a:t>Native DRM SDK · Content APIs
Business logic · Material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3337560"/>
            <a:ext cx="4846320" cy="118872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34290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B82F6"/>
                </a:solidFill>
                <a:latin typeface="Calibri"/>
              </a:rPr>
              <a:t>iOS (Swift)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3794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CCCCC"/>
                </a:solidFill>
                <a:latin typeface="Calibri"/>
              </a:rPr>
              <a:t>Native DRM SDK · Content APIs
Business logic · UIKit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663440"/>
            <a:ext cx="4846320" cy="118872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4754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64748B"/>
                </a:solidFill>
                <a:latin typeface="Calibri"/>
              </a:rPr>
              <a:t>~90 % reused for TV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51206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CCCCC"/>
                </a:solidFill>
                <a:latin typeface="Calibri"/>
              </a:rPr>
              <a:t>Each platform's smartphone codebase
carries over to its TV version:
DRM · Business logic · APIs · Auth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From Smartphones to TV</a:t>
            </a:r>
          </a:p>
          <a:p>
            <a:r>
              <a:rPr sz="2000" b="0">
                <a:solidFill>
                  <a:srgbClr val="CCCCCC"/>
                </a:solidFill>
                <a:latin typeface="Calibri"/>
              </a:rPr>
              <a:t>Low-effort extension to Android TV &amp; Apple TV — reusing ~90 % of the codebase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931920"/>
                <a:gridCol w="39319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 marL="76200" marR="76200" marT="50800" marB="508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Reused from PlayVOD</a:t>
                      </a:r>
                    </a:p>
                  </a:txBody>
                  <a:tcPr anchor="ctr" marL="76200" marR="76200" marT="50800" marB="508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TV-specific adaptation</a:t>
                      </a:r>
                    </a:p>
                  </a:txBody>
                  <a:tcPr anchor="ctr" marL="76200" marR="76200" marT="50800" marB="50800">
                    <a:solidFill>
                      <a:srgbClr val="3B8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DRM player + licence</a:t>
                      </a:r>
                    </a:p>
                  </a:txBody>
                  <a:tcPr anchor="ctr" marL="76200" marR="76200" marT="50800" marB="508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✅ Same SDK, same licence</a:t>
                      </a:r>
                    </a:p>
                  </a:txBody>
                  <a:tcPr anchor="ctr" marL="76200" marR="76200" marT="50800" marB="508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6200" marR="76200" marT="50800" marB="50800"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Business logic &amp; APIs</a:t>
                      </a:r>
                    </a:p>
                  </a:txBody>
                  <a:tcPr anchor="ctr" marL="76200" marR="76200" marT="50800" marB="50800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✅ Content, auth, payments</a:t>
                      </a:r>
                    </a:p>
                  </a:txBody>
                  <a:tcPr anchor="ctr" marL="76200" marR="76200" marT="50800" marB="50800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6200" marR="76200" marT="50800" marB="50800">
                    <a:solidFill>
                      <a:srgbClr val="2525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Native SDKs</a:t>
                      </a:r>
                    </a:p>
                  </a:txBody>
                  <a:tcPr anchor="ctr" marL="76200" marR="76200" marT="50800" marB="508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✅ Same per-platform SDKs</a:t>
                      </a:r>
                    </a:p>
                  </a:txBody>
                  <a:tcPr anchor="ctr" marL="76200" marR="76200" marT="50800" marB="508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6200" marR="76200" marT="50800" marB="50800"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UI / UX</a:t>
                      </a:r>
                    </a:p>
                  </a:txBody>
                  <a:tcPr anchor="ctr" marL="76200" marR="76200" marT="50800" marB="50800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 marL="76200" marR="76200" marT="50800" marB="50800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New TV layouts, D-pad nav, 10-foot UI</a:t>
                      </a:r>
                    </a:p>
                  </a:txBody>
                  <a:tcPr anchor="ctr" marL="76200" marR="76200" marT="50800" marB="50800">
                    <a:solidFill>
                      <a:srgbClr val="252538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914400" y="4206240"/>
            <a:ext cx="5029200" cy="1097280"/>
          </a:xfrm>
          <a:prstGeom prst="roundRect">
            <a:avLst/>
          </a:prstGeom>
          <a:solidFill>
            <a:srgbClr val="252538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2C55E"/>
                </a:solidFill>
                <a:latin typeface="Calibri"/>
              </a:rPr>
              <a:t>Android TV</a:t>
            </a:r>
          </a:p>
          <a:p>
            <a:pPr algn="ctr"/>
            <a:r>
              <a:rPr sz="1400" b="0">
                <a:solidFill>
                  <a:srgbClr val="CCCCCC"/>
                </a:solidFill>
                <a:latin typeface="Calibri"/>
              </a:rPr>
              <a:t>Same Kotlin codebase +
TV Activity / Leanback UI → .apk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4206240"/>
            <a:ext cx="5029200" cy="1097280"/>
          </a:xfrm>
          <a:prstGeom prst="roundRect">
            <a:avLst/>
          </a:prstGeom>
          <a:solidFill>
            <a:srgbClr val="252538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3B82F6"/>
                </a:solidFill>
                <a:latin typeface="Calibri"/>
              </a:rPr>
              <a:t>Apple TV (tvOS)</a:t>
            </a:r>
          </a:p>
          <a:p>
            <a:pPr algn="ctr"/>
            <a:r>
              <a:rPr sz="1400" b="0">
                <a:solidFill>
                  <a:srgbClr val="CCCCCC"/>
                </a:solidFill>
                <a:latin typeface="Calibri"/>
              </a:rPr>
              <a:t>Same Swift codebase +
TVUIKit / focus engine → .ipa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9E0B"/>
                </a:solidFill>
                <a:latin typeface="Calibri"/>
              </a:rPr>
              <a:t>But what about the rest of the market? </a:t>
            </a:r>
            <a:r>
              <a:rPr sz="1800" b="0">
                <a:solidFill>
                  <a:srgbClr val="CCCCCC"/>
                </a:solidFill>
                <a:latin typeface="Calibri"/>
              </a:rPr>
              <a:t>Samsung (Tizen) and LG (webOS) don't support native Android/iOS SDKs — we need a different approach.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Demos — Native TV Apps</a:t>
            </a:r>
          </a:p>
          <a:p>
            <a:r>
              <a:rPr sz="2000" b="0">
                <a:solidFill>
                  <a:srgbClr val="CCCCCC"/>
                </a:solidFill>
                <a:latin typeface="Calibri"/>
              </a:rPr>
              <a:t>Video walkthroughs of the PlayVOD TV experience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194560"/>
            <a:ext cx="5029200" cy="3657600"/>
          </a:xfrm>
          <a:prstGeom prst="roundRect">
            <a:avLst/>
          </a:prstGeom>
          <a:solidFill>
            <a:srgbClr val="252538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22C55E"/>
                </a:solidFill>
                <a:latin typeface="Calibri"/>
              </a:rPr>
              <a:t>Android TV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3832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  <a:latin typeface="Calibri"/>
              </a:rPr>
              <a:t>Kotlin · Leanback UI · .apk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389120"/>
            <a:ext cx="2834640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52E16"/>
                </a:solidFill>
                <a:latin typeface="Calibri"/>
              </a:rPr>
              <a:t>▶  Watch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2120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99999"/>
                </a:solidFill>
                <a:latin typeface="Calibri"/>
              </a:rPr>
              <a:t>video-demo/android_native_tv_demo.mp4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194560"/>
            <a:ext cx="5029200" cy="3657600"/>
          </a:xfrm>
          <a:prstGeom prst="roundRect">
            <a:avLst/>
          </a:prstGeom>
          <a:solidFill>
            <a:srgbClr val="252538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7432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3B82F6"/>
                </a:solidFill>
                <a:latin typeface="Calibri"/>
              </a:rPr>
              <a:t>Apple TV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3832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  <a:latin typeface="Calibri"/>
              </a:rPr>
              <a:t>Swift · TVUIKit · .ipa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4389120"/>
            <a:ext cx="283464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▶  Watch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52120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99999"/>
                </a:solidFill>
                <a:latin typeface="Calibri"/>
              </a:rPr>
              <a:t>video-demo/tvOS_demo.mp4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Context</a:t>
            </a:r>
          </a:p>
          <a:p>
            <a:r>
              <a:rPr sz="2000" b="0">
                <a:solidFill>
                  <a:srgbClr val="CCCCCC"/>
                </a:solidFill>
                <a:latin typeface="Calibri"/>
              </a:rPr>
              <a:t>Global Smart TV OS Market Share (Shipments &amp; Installed Base)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CCCCCC"/>
                </a:solidFill>
                <a:latin typeface="Calibri"/>
              </a:rPr>
              <a:t>Globally, Android/Google TV leads in total installations, while Tizen leads in usage, particularly due to Samsung's strong hardware sales.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Android/Google TV: </a:t>
            </a:r>
            <a:r>
              <a:rPr sz="1800" b="0">
                <a:solidFill>
                  <a:srgbClr val="FFFFFF"/>
                </a:solidFill>
                <a:latin typeface="Calibri"/>
              </a:rPr>
              <a:t>Holds the top spot in global shipments, &gt;24 % and projected to remain dominant.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Tizen (Samsung): </a:t>
            </a:r>
            <a:r>
              <a:rPr sz="1800" b="0">
                <a:solidFill>
                  <a:srgbClr val="FFFFFF"/>
                </a:solidFill>
                <a:latin typeface="Calibri"/>
              </a:rPr>
              <a:t>Ranked No. 1 in global installed base, approximately 12.8–17 % market share.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webOS (LG): </a:t>
            </a:r>
            <a:r>
              <a:rPr sz="1800" b="0">
                <a:solidFill>
                  <a:srgbClr val="FFFFFF"/>
                </a:solidFill>
                <a:latin typeface="Calibri"/>
              </a:rPr>
              <a:t>A strong third place, capturing around 11–12 % of global shipments.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389120"/>
            <a:ext cx="2286000" cy="18288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6268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  <a:latin typeface="Calibri"/>
              </a:rPr>
              <a:t>Android /
Google TV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0690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3B82F6"/>
                </a:solidFill>
                <a:latin typeface="Calibri"/>
              </a:rPr>
              <a:t>~24 %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922520"/>
            <a:ext cx="2286000" cy="1295400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6268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  <a:latin typeface="Calibri"/>
              </a:rPr>
              <a:t>Tizen
(Samsung)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602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97316"/>
                </a:solidFill>
                <a:latin typeface="Calibri"/>
              </a:rPr>
              <a:t>~17 %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5303520"/>
            <a:ext cx="2286000" cy="91440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6268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  <a:latin typeface="Calibri"/>
              </a:rPr>
              <a:t>webOS
(LG)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4983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A855F7"/>
                </a:solidFill>
                <a:latin typeface="Calibri"/>
              </a:rPr>
              <a:t>~12 %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TV App Architecture — Options</a:t>
            </a:r>
          </a:p>
          <a:p>
            <a:r>
              <a:rPr sz="2000" b="0">
                <a:solidFill>
                  <a:srgbClr val="CCCCCC"/>
                </a:solidFill>
                <a:latin typeface="Calibri"/>
              </a:rPr>
              <a:t>Three drivers shape the decision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011680"/>
            <a:ext cx="3474720" cy="411480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65960" y="233172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Maximise market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  <a:latin typeface="Calibri"/>
              </a:rPr>
              <a:t>Ship on Android/Google TV, Tizen, webOS, Apple TV — together &gt;60 % of Smart TV shipments.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2011680"/>
            <a:ext cx="3474720" cy="411480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14999" y="233172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3200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Web-based DRM SDK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38404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  <a:latin typeface="Calibri"/>
              </a:rPr>
              <a:t>Playback relies on @digitalvirgo/drm-player (github.com/matteoburgassi/drm-player), a façade built ad-hoc to wrap the licensed DRM SDK into a simple, reusable component for Bolt.new. Runs in a browser / WebView; non-web runtimes are ruled 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79" y="5577840"/>
            <a:ext cx="2560320" cy="411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59E0B"/>
                </a:solidFill>
                <a:latin typeface="Calibri"/>
              </a:rPr>
              <a:t>⭐  github.com/matteoburgassi/drm-player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8" y="2011680"/>
            <a:ext cx="3474720" cy="411480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64038" y="233172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8" y="3200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Bolt.new as accelerator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8" y="38404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  <a:latin typeface="Calibri"/>
              </a:rPr>
              <a:t>AI-powered rapid prototyping excels at React/Vite web apps and React Native — making web architectures significantly faster to iterate 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Architecture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424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377440"/>
                <a:gridCol w="2743200"/>
                <a:gridCol w="3108960"/>
                <a:gridCol w="5486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anchor="ctr" marL="76200" marR="76200" marT="50800" marB="508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6200" marR="76200" marT="50800" marB="508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Pros</a:t>
                      </a:r>
                    </a:p>
                  </a:txBody>
                  <a:tcPr anchor="ctr" marL="76200" marR="76200" marT="50800" marB="508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Cons</a:t>
                      </a:r>
                    </a:p>
                  </a:txBody>
                  <a:tcPr anchor="ctr" marL="76200" marR="76200" marT="50800" marB="508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6200" marR="76200" marT="50800" marB="50800">
                    <a:solidFill>
                      <a:srgbClr val="3B8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6534"/>
                          </a:solidFill>
                          <a:latin typeface="Calibri"/>
                        </a:rPr>
                        <a:t>Fully Native</a:t>
                      </a:r>
                    </a:p>
                  </a:txBody>
                  <a:tcPr anchor="ctr" marL="76200" marR="76200" marT="50800" marB="5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6534"/>
                          </a:solidFill>
                          <a:latin typeface="Calibri"/>
                        </a:rPr>
                        <a:t>One native app per OS
(Swift / Kotlin / C++)</a:t>
                      </a:r>
                    </a:p>
                  </a:txBody>
                  <a:tcPr anchor="ctr" marL="76200" marR="76200" marT="50800" marB="5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6534"/>
                          </a:solidFill>
                          <a:latin typeface="Calibri"/>
                        </a:rPr>
                        <a:t>Best performance &amp;
platform APIs</a:t>
                      </a:r>
                    </a:p>
                  </a:txBody>
                  <a:tcPr anchor="ctr" marL="76200" marR="76200" marT="50800" marB="5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6534"/>
                          </a:solidFill>
                          <a:latin typeface="Calibri"/>
                        </a:rPr>
                        <a:t>N codebases, N teams;
N DRM SDK integrations
(one per platform);
no Bolt.new leverage</a:t>
                      </a:r>
                    </a:p>
                  </a:txBody>
                  <a:tcPr anchor="ctr" marL="76200" marR="76200" marT="50800" marB="5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6534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anchor="ctr" marL="76200" marR="76200" marT="50800" marB="50800">
                    <a:solidFill>
                      <a:srgbClr val="DCFC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Cross-platform
Native</a:t>
                      </a:r>
                    </a:p>
                  </a:txBody>
                  <a:tcPr anchor="ctr" marL="76200" marR="76200" marT="50800" marB="50800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Single codebase → native
(React Native, Flutter)</a:t>
                      </a:r>
                    </a:p>
                  </a:txBody>
                  <a:tcPr anchor="ctr" marL="76200" marR="76200" marT="50800" marB="50800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Shared logic, native
rendering; Bolt.new
can scaffold RN</a:t>
                      </a:r>
                    </a:p>
                  </a:txBody>
                  <a:tcPr anchor="ctr" marL="76200" marR="76200" marT="50800" marB="50800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No Tizen / webOS →
misses ~25 % market;
DRM SDK needs a WebView</a:t>
                      </a:r>
                    </a:p>
                  </a:txBody>
                  <a:tcPr anchor="ctr" marL="76200" marR="76200" marT="50800" marB="50800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 anchor="ctr" marL="76200" marR="76200" marT="50800" marB="50800">
                    <a:solidFill>
                      <a:srgbClr val="2525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Lightning / WPE</a:t>
                      </a:r>
                    </a:p>
                  </a:txBody>
                  <a:tcPr anchor="ctr" marL="76200" marR="76200" marT="50800" marB="508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TV-specific JS framework
(Metrological)</a:t>
                      </a:r>
                    </a:p>
                  </a:txBody>
                  <a:tcPr anchor="ctr" marL="76200" marR="76200" marT="50800" marB="508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Built for low-end SoCs,
operator ecosystem</a:t>
                      </a:r>
                    </a:p>
                  </a:txBody>
                  <a:tcPr anchor="ctr" marL="76200" marR="76200" marT="50800" marB="508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Vendor lock-in; DRM
integration not guaranteed;
no Bolt.new support</a:t>
                      </a:r>
                    </a:p>
                  </a:txBody>
                  <a:tcPr anchor="ctr" marL="76200" marR="76200" marT="50800" marB="508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 anchor="ctr" marL="76200" marR="76200" marT="50800" marB="50800"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Packaged
Web App</a:t>
                      </a:r>
                    </a:p>
                  </a:txBody>
                  <a:tcPr anchor="ctr" marL="76200" marR="76200" marT="50800" marB="50800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Bundled HTML/JS/CSS
inside each shell</a:t>
                      </a:r>
                    </a:p>
                  </a:txBody>
                  <a:tcPr anchor="ctr" marL="76200" marR="76200" marT="50800" marB="50800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Offline-capable,
store-distributed;
Bolt.new can generate it</a:t>
                      </a:r>
                    </a:p>
                  </a:txBody>
                  <a:tcPr anchor="ctr" marL="76200" marR="76200" marT="50800" marB="50800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DRM licence requires
hosted origin; re-packaging
on every update</a:t>
                      </a:r>
                    </a:p>
                  </a:txBody>
                  <a:tcPr anchor="ctr" marL="76200" marR="76200" marT="50800" marB="50800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 anchor="ctr" marL="76200" marR="76200" marT="50800" marB="50800">
                    <a:solidFill>
                      <a:srgbClr val="2525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6534"/>
                          </a:solidFill>
                          <a:latin typeface="Calibri"/>
                        </a:rPr>
                        <a:t>Hosted Web App
(Hybrid)</a:t>
                      </a:r>
                    </a:p>
                  </a:txBody>
                  <a:tcPr anchor="ctr" marL="76200" marR="76200" marT="50800" marB="5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6534"/>
                          </a:solidFill>
                          <a:latin typeface="Calibri"/>
                        </a:rPr>
                        <a:t>Thin native shell loads
a remote SPA in WebView</a:t>
                      </a:r>
                    </a:p>
                  </a:txBody>
                  <a:tcPr anchor="ctr" marL="76200" marR="76200" marT="50800" marB="5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6534"/>
                          </a:solidFill>
                          <a:latin typeface="Calibri"/>
                        </a:rPr>
                        <a:t>Single codebase, OTA
updates, DRM ✓, all OSes;
Bolt.new ideal for
React/Vite iteration</a:t>
                      </a:r>
                    </a:p>
                  </a:txBody>
                  <a:tcPr anchor="ctr" marL="76200" marR="76200" marT="50800" marB="5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6534"/>
                          </a:solidFill>
                          <a:latin typeface="Calibri"/>
                        </a:rPr>
                        <a:t>Needs connectivity;
WebView perf varies
by device</a:t>
                      </a:r>
                    </a:p>
                  </a:txBody>
                  <a:tcPr anchor="ctr" marL="76200" marR="76200" marT="50800" marB="50800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6534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anchor="ctr" marL="76200" marR="76200" marT="50800" marB="50800"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Architecture Decision</a:t>
            </a:r>
          </a:p>
          <a:p>
            <a:r>
              <a:rPr sz="2000" b="0">
                <a:solidFill>
                  <a:srgbClr val="CCCCCC"/>
                </a:solidFill>
                <a:latin typeface="Calibri"/>
              </a:rPr>
              <a:t>Constraints and accelerators funnel to a single viable option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2926080" cy="8229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Constraint:
max market share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1828800"/>
            <a:ext cx="2926080" cy="8229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Constraint:
web-based DRM SDK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828800"/>
            <a:ext cx="2926080" cy="8229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Accelerator:
Bolt.new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200400"/>
            <a:ext cx="2651760" cy="109728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6534"/>
                </a:solidFill>
                <a:latin typeface="Calibri"/>
              </a:rPr>
              <a:t>✅ Fully Native</a:t>
            </a:r>
          </a:p>
          <a:p>
            <a:pPr algn="ctr"/>
            <a:r>
              <a:rPr sz="1100" b="0">
                <a:solidFill>
                  <a:srgbClr val="166534"/>
                </a:solidFill>
                <a:latin typeface="Calibri"/>
              </a:rPr>
              <a:t>PlayVOD — Android TV + Apple TV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3200400"/>
            <a:ext cx="2651760" cy="10972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991B1B"/>
                </a:solidFill>
                <a:latin typeface="Calibri"/>
              </a:rPr>
              <a:t>❌ Cross-platform Native</a:t>
            </a:r>
          </a:p>
          <a:p>
            <a:pPr algn="ctr"/>
            <a:r>
              <a:rPr sz="1100" b="0">
                <a:solidFill>
                  <a:srgbClr val="991B1B"/>
                </a:solidFill>
                <a:latin typeface="Calibri"/>
              </a:rPr>
              <a:t>no Tizen/webOS → limited reach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200400"/>
            <a:ext cx="2651760" cy="10972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991B1B"/>
                </a:solidFill>
                <a:latin typeface="Calibri"/>
              </a:rPr>
              <a:t>❌ Lightning / WPE</a:t>
            </a:r>
          </a:p>
          <a:p>
            <a:pPr algn="ctr"/>
            <a:r>
              <a:rPr sz="1100" b="0">
                <a:solidFill>
                  <a:srgbClr val="991B1B"/>
                </a:solidFill>
                <a:latin typeface="Calibri"/>
              </a:rPr>
              <a:t>vendor lock-in, DRM unclear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3200400"/>
            <a:ext cx="2651760" cy="10972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991B1B"/>
                </a:solidFill>
                <a:latin typeface="Calibri"/>
              </a:rPr>
              <a:t>❌ Packaged Web App</a:t>
            </a:r>
          </a:p>
          <a:p>
            <a:pPr algn="ctr"/>
            <a:r>
              <a:rPr sz="1100" b="0">
                <a:solidFill>
                  <a:srgbClr val="991B1B"/>
                </a:solidFill>
                <a:latin typeface="Calibri"/>
              </a:rPr>
              <a:t>DRM licence requires hosted origin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4754880"/>
            <a:ext cx="6675120" cy="822960"/>
          </a:xfrm>
          <a:prstGeom prst="roundRect">
            <a:avLst/>
          </a:prstGeom>
          <a:solidFill>
            <a:srgbClr val="22C55E"/>
          </a:solidFill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66534"/>
                </a:solidFill>
                <a:latin typeface="Calibri"/>
              </a:rPr>
              <a:t>✅  Hosted Web App (Hybrid) — 1 SPA, all OSes, DRM ✓, Bolt.new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C55E"/>
                </a:solidFill>
                <a:latin typeface="Calibri"/>
              </a:rPr>
              <a:t>Decision: </a:t>
            </a:r>
            <a:r>
              <a:rPr sz="1600" b="0">
                <a:solidFill>
                  <a:srgbClr val="CCCCCC"/>
                </a:solidFill>
                <a:latin typeface="Calibri"/>
              </a:rPr>
              <a:t>Only the Hosted Web App (Hybrid) satisfies all three drivers — DRM SDK in its licensed web origin, maximum market coverage via thin native shells, and Bolt.new for rapid React/Vite iteration.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Development Workflow</a:t>
            </a:r>
          </a:p>
          <a:p>
            <a:r>
              <a:rPr sz="2000" b="0">
                <a:solidFill>
                  <a:srgbClr val="CCCCCC"/>
                </a:solidFill>
                <a:latin typeface="Calibri"/>
              </a:rPr>
              <a:t>Two AI tools, two domains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4846320" cy="3657600"/>
          </a:xfrm>
          <a:prstGeom prst="roundRect">
            <a:avLst/>
          </a:prstGeom>
          <a:solidFill>
            <a:srgbClr val="252538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20116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011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9E0B"/>
                </a:solidFill>
                <a:latin typeface="Calibri"/>
              </a:rPr>
              <a:t>Bolt.new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CCCCCC"/>
                </a:solidFill>
                <a:latin typeface="Calibri"/>
              </a:rPr>
              <a:t>Front-end — the user-facing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4297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React SPA </a:t>
            </a:r>
            <a:r>
              <a:rPr sz="1600" b="0">
                <a:solidFill>
                  <a:srgbClr val="FFFFFF"/>
                </a:solidFill>
                <a:latin typeface="Calibri"/>
              </a:rPr>
              <a:t>— Vite, Tailwind, spatial nav, pages, playback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React Native </a:t>
            </a:r>
            <a:r>
              <a:rPr sz="1600" b="0">
                <a:solidFill>
                  <a:srgbClr val="FFFFFF"/>
                </a:solidFill>
                <a:latin typeface="Calibri"/>
              </a:rPr>
              <a:t>— Apple TV app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Output: </a:t>
            </a:r>
            <a:r>
              <a:rPr sz="1600" b="0">
                <a:solidFill>
                  <a:srgbClr val="FFFFFF"/>
                </a:solidFill>
                <a:latin typeface="Calibri"/>
              </a:rPr>
              <a:t>Hosted SPA + .ipa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394960" y="3383280"/>
            <a:ext cx="914400" cy="54864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828800"/>
            <a:ext cx="5212080" cy="3657600"/>
          </a:xfrm>
          <a:prstGeom prst="roundRect">
            <a:avLst/>
          </a:prstGeom>
          <a:solidFill>
            <a:srgbClr val="252538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66560" y="201168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011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5CF6"/>
                </a:solidFill>
                <a:latin typeface="Calibri"/>
              </a:rPr>
              <a:t>Cursor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651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CCCCCC"/>
                </a:solidFill>
                <a:latin typeface="Calibri"/>
              </a:rPr>
              <a:t>Infrastructure — the platform glue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2004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Cloudflare Worker </a:t>
            </a:r>
            <a:r>
              <a:rPr sz="1600" b="0">
                <a:solidFill>
                  <a:srgbClr val="FFFFFF"/>
                </a:solidFill>
                <a:latin typeface="Calibri"/>
              </a:rPr>
              <a:t>— CORS proxy + QR device-code auth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Native shells </a:t>
            </a:r>
            <a:r>
              <a:rPr sz="1600" b="0">
                <a:solidFill>
                  <a:srgbClr val="FFFFFF"/>
                </a:solidFill>
                <a:latin typeface="Calibri"/>
              </a:rPr>
              <a:t>— webOS, Tizen, Android TV configs &amp; build scripts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Output: </a:t>
            </a:r>
            <a:r>
              <a:rPr sz="1600" b="0">
                <a:solidFill>
                  <a:srgbClr val="FFFFFF"/>
                </a:solidFill>
                <a:latin typeface="Calibri"/>
              </a:rPr>
              <a:t>Edge proxy + .ipk / .wgt / .apk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5760720"/>
            <a:ext cx="6675120" cy="7315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66534"/>
                </a:solidFill>
                <a:latin typeface="Calibri"/>
              </a:rPr>
              <a:t>→  Every TV screen  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Front-end Architecture</a:t>
            </a:r>
          </a:p>
          <a:p>
            <a:r>
              <a:rPr sz="2000" b="0">
                <a:solidFill>
                  <a:srgbClr val="CCCCCC"/>
                </a:solidFill>
                <a:latin typeface="Calibri"/>
              </a:rPr>
              <a:t>From Bolt-style iteration to a production-oriented TV web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Stack: </a:t>
            </a:r>
            <a:r>
              <a:rPr sz="1500" b="0">
                <a:solidFill>
                  <a:srgbClr val="FFFFFF"/>
                </a:solidFill>
                <a:latin typeface="Calibri"/>
              </a:rPr>
              <a:t>React 19, TypeScript, Vite 7, Tailwind CSS 4, HashRouter (TV-friendly deep links).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TV UX: </a:t>
            </a:r>
            <a:r>
              <a:rPr sz="1500" b="0">
                <a:solidFill>
                  <a:srgbClr val="FFFFFF"/>
                </a:solidFill>
                <a:latin typeface="Calibri"/>
              </a:rPr>
              <a:t>@noriginmedia/norigin-spatial-navigation for D-pad focus; pages &amp; shared UI under src/pages, src/components.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Monorepo packages: </a:t>
            </a:r>
            <a:r>
              <a:rPr sz="1500" b="0">
                <a:solidFill>
                  <a:srgbClr val="FFFFFF"/>
                </a:solidFill>
                <a:latin typeface="Calibri"/>
              </a:rPr>
              <a:t>tv-vod-api (Galaxy content client + asset helpers), tv-vod-auth (device login, SmartVideo / DVE wiring).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Playback: </a:t>
            </a:r>
            <a:r>
              <a:rPr sz="1500" b="0">
                <a:solidFill>
                  <a:srgbClr val="FFFFFF"/>
                </a:solidFill>
                <a:latin typeface="Calibri"/>
              </a:rPr>
              <a:t>@digitalvirgo/drm-player + HLS — a façade wrapping the licensed DRM SDK so Bolt.new can integrate playback in one line (github.com/matteoburgassi/drm-player); env-based hosts (VITE_*) with dev proxies in vite.config.ts.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Bolt.new role: </a:t>
            </a:r>
            <a:r>
              <a:rPr sz="1500" b="0">
                <a:solidFill>
                  <a:srgbClr val="FFFFFF"/>
                </a:solidFill>
                <a:latin typeface="Calibri"/>
              </a:rPr>
              <a:t>Rapid UI/flow iteration; the same layers live in-repo as one SPA: index.html → src/main.tsx.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5029200" cy="178308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37960" y="169164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B82F6"/>
                </a:solidFill>
                <a:latin typeface="Calibri"/>
              </a:rPr>
              <a:t>React SPA (Vite)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965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  <a:latin typeface="Calibri"/>
              </a:rPr>
              <a:t>•  Pages &amp;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258567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  <a:latin typeface="Calibri"/>
              </a:rPr>
              <a:t>•  Spatial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551176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  <a:latin typeface="Calibri"/>
              </a:rPr>
              <a:t>•  HashRouter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843784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  <a:latin typeface="Calibri"/>
              </a:rPr>
              <a:t>•  AuthContext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1363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  <a:latin typeface="Calibri"/>
              </a:rPr>
              <a:t>•  DRM Player + HLS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593592"/>
            <a:ext cx="5029200" cy="905256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363931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8B5CF6"/>
                </a:solidFill>
                <a:latin typeface="Calibri"/>
              </a:rPr>
              <a:t>Workspace packages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9136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  <a:latin typeface="Calibri"/>
              </a:rPr>
              <a:t>•  tv-vod-api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2062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  <a:latin typeface="Calibri"/>
              </a:rPr>
              <a:t>•  tv-vod-auth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663440"/>
            <a:ext cx="5029200" cy="905256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70916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Calibri"/>
              </a:rPr>
              <a:t>Cloudflare Worker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983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  <a:latin typeface="Calibri"/>
              </a:rPr>
              <a:t>•  CORS proxy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5276087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  <a:latin typeface="Calibri"/>
              </a:rPr>
              <a:t>•  Device code auth + KV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5733288"/>
            <a:ext cx="5029200" cy="1197864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5779008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4748B"/>
                </a:solidFill>
                <a:latin typeface="Calibri"/>
              </a:rPr>
              <a:t>Backend HTTP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60533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  <a:latin typeface="Calibri"/>
              </a:rPr>
              <a:t>•  Galaxy content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34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  <a:latin typeface="Calibri"/>
              </a:rPr>
              <a:t>•  DVE User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6638544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CCCCC"/>
                </a:solidFill>
                <a:latin typeface="Calibri"/>
              </a:rPr>
              <a:t>•  SmartVideo 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Server API Layer</a:t>
            </a:r>
          </a:p>
          <a:p>
            <a:r>
              <a:rPr sz="2000" b="0">
                <a:solidFill>
                  <a:srgbClr val="CCCCCC"/>
                </a:solidFill>
                <a:latin typeface="Calibri"/>
              </a:rPr>
              <a:t>Cloudflare Worker — CORS proxy + device-code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Cloudflare Worker </a:t>
            </a:r>
            <a:r>
              <a:rPr sz="1400" b="0">
                <a:solidFill>
                  <a:srgbClr val="FFFFFF"/>
                </a:solidFill>
                <a:latin typeface="Calibri"/>
              </a:rPr>
              <a:t>(proxy/src/index.ts) deployed at smartvideo-cors-proxy.*.workers.dev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CORS reverse proxy — </a:t>
            </a:r>
            <a:r>
              <a:rPr sz="1400" b="0">
                <a:solidFill>
                  <a:srgbClr val="FFFFFF"/>
                </a:solidFill>
                <a:latin typeface="Calibri"/>
              </a:rPr>
              <a:t>SPA runs on a different origin; Worker forwards requests and injects CORS headers:
    /smartvideo/* → SmartVideo API
    /auth/* → DVE User API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Device-code (QR) auth — </a:t>
            </a:r>
            <a:r>
              <a:rPr sz="1400" b="0">
                <a:solidFill>
                  <a:srgbClr val="FFFFFF"/>
                </a:solidFill>
                <a:latin typeface="Calibri"/>
              </a:rPr>
              <a:t>TVs have no keyboard; OAuth-style device flow backed by Workers KV (TTL 300 s):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1.  TV calls POST /device/code → Worker generates 6-char PIN, stores { status: 'pending' } in KV.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2.  TV displays QR code encoding the pairing URL with the PIN.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3.  User scans QR → PairPage lets them log in → POST /device/verify { code, user }.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4.  TV polls GET /device/poll every 3 s → once 'complete', Worker returns user.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4846320" cy="832104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16916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B82F6"/>
                </a:solidFill>
                <a:latin typeface="Calibri"/>
              </a:rPr>
              <a:t>TV SPA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965960"/>
            <a:ext cx="4389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CCCCC"/>
                </a:solidFill>
                <a:latin typeface="Calibri"/>
              </a:rPr>
              <a:t>LoginPage — show QR
Poll /device/poll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615184"/>
            <a:ext cx="4846320" cy="576072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660904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B5CF6"/>
                </a:solidFill>
                <a:latin typeface="Calibri"/>
              </a:rPr>
              <a:t>Phone / Laptop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93522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CCCCC"/>
                </a:solidFill>
                <a:latin typeface="Calibri"/>
              </a:rPr>
              <a:t>PairPage — enter code + login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328416"/>
            <a:ext cx="4846320" cy="160020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3374136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Calibri"/>
              </a:rPr>
              <a:t>Cloudflare Worker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648456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CCCCC"/>
                </a:solidFill>
                <a:latin typeface="Calibri"/>
              </a:rPr>
              <a:t>POST /device/code
POST /device/verify
GET /device/poll
CORS reverse proxy
Workers KV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5065776"/>
            <a:ext cx="4846320" cy="832104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5111496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4748B"/>
                </a:solidFill>
                <a:latin typeface="Calibri"/>
              </a:rPr>
              <a:t>Upstream APIs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5385816"/>
            <a:ext cx="4389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CCCCC"/>
                </a:solidFill>
                <a:latin typeface="Calibri"/>
              </a:rPr>
              <a:t>SmartVideo API
DVE User API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Roadmap — What the Worker Replaces</a:t>
            </a:r>
          </a:p>
          <a:p>
            <a:r>
              <a:rPr sz="2000" b="0">
                <a:solidFill>
                  <a:srgbClr val="CCCCCC"/>
                </a:solidFill>
                <a:latin typeface="Calibri"/>
              </a:rPr>
              <a:t>Both responsibilities are temporary scaffolding that can be absorbed by the platform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828800"/>
          <a:ext cx="10972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Current (Worker)</a:t>
                      </a:r>
                    </a:p>
                  </a:txBody>
                  <a:tcPr anchor="ctr" marL="76200" marR="76200" marT="50800" marB="50800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Future</a:t>
                      </a:r>
                    </a:p>
                  </a:txBody>
                  <a:tcPr anchor="ctr" marL="76200" marR="76200" marT="50800" marB="50800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anchor="ctr" marL="76200" marR="76200" marT="50800" marB="50800">
                    <a:solidFill>
                      <a:srgbClr val="F59E0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CORS reverse proxy</a:t>
                      </a:r>
                    </a:p>
                  </a:txBody>
                  <a:tcPr anchor="ctr" marL="76200" marR="76200" marT="50800" marB="508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Dedicated domain — SPA and APIs
share the same origin (or APIs
return proper CORS headers)</a:t>
                      </a:r>
                    </a:p>
                  </a:txBody>
                  <a:tcPr anchor="ctr" marL="76200" marR="76200" marT="50800" marB="508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Proxy layer disappears entirely;
SPA calls APIs directly</a:t>
                      </a:r>
                    </a:p>
                  </a:txBody>
                  <a:tcPr anchor="ctr" marL="76200" marR="76200" marT="50800" marB="50800"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Device-code (QR) auth</a:t>
                      </a:r>
                    </a:p>
                  </a:txBody>
                  <a:tcPr anchor="ctr" marL="76200" marR="76200" marT="50800" marB="508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Implement device-flow endpoints
in SmartUser (DVE's central
auth service)</a:t>
                      </a:r>
                    </a:p>
                  </a:txBody>
                  <a:tcPr anchor="ctr" marL="76200" marR="76200" marT="50800" marB="50800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Calibri"/>
                        </a:rPr>
                        <a:t>Flow becomes a first-class DV
platform feature, reusable by
any DV app (mobile, web, TV)</a:t>
                      </a:r>
                    </a:p>
                  </a:txBody>
                  <a:tcPr anchor="ctr" marL="76200" marR="76200" marT="50800" marB="50800"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CCCCCC"/>
                </a:solidFill>
                <a:latin typeface="Calibri"/>
              </a:rPr>
              <a:t>Once both migrations land, the Cloudflare Worker can be decommissioned and tv-vod-auth switches its base URL to the SmartUser endpoints.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303520"/>
            <a:ext cx="3200400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Now: Cloudflare Worker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5303520"/>
            <a:ext cx="3200400" cy="7315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52E16"/>
                </a:solidFill>
                <a:latin typeface="Calibri"/>
              </a:rPr>
              <a:t>Future: Dedicated domain + SmartUser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20640" y="5440680"/>
            <a:ext cx="731520" cy="4572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Native Layer</a:t>
            </a:r>
          </a:p>
          <a:p>
            <a:r>
              <a:rPr sz="2000" b="0">
                <a:solidFill>
                  <a:srgbClr val="CCCCCC"/>
                </a:solidFill>
                <a:latin typeface="Calibri"/>
              </a:rPr>
              <a:t>webOS, Tizen, Android TV, Apple TV — packaged shells that bootstrap the SPA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011680"/>
            <a:ext cx="2651760" cy="256032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1488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Calibri"/>
              </a:rPr>
              <a:t>LG webOS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CCCCC"/>
                </a:solidFill>
                <a:latin typeface="Calibri"/>
              </a:rPr>
              <a:t>appinfo.json + assets
build-webos.sh → output/webos/
.ipk via ares-package
Deploy via ares-launch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011680"/>
            <a:ext cx="2651760" cy="256032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21488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97316"/>
                </a:solidFill>
                <a:latin typeface="Calibri"/>
              </a:rPr>
              <a:t>Samsung Tizen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517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CCCCC"/>
                </a:solidFill>
                <a:latin typeface="Calibri"/>
              </a:rPr>
              <a:t>config.xml + icon
build-tizen.sh → output/tizen/
.wgt via Tizen CLI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11680"/>
            <a:ext cx="2651760" cy="256032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1488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2C55E"/>
                </a:solidFill>
                <a:latin typeface="Calibri"/>
              </a:rPr>
              <a:t>Android TV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517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CCCCC"/>
                </a:solidFill>
                <a:latin typeface="Calibri"/>
              </a:rPr>
              <a:t>WebView + index.html
.apk via Gradle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2011680"/>
            <a:ext cx="2651760" cy="256032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72600" y="21488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A855F7"/>
                </a:solidFill>
                <a:latin typeface="Calibri"/>
              </a:rPr>
              <a:t>Apple TV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6517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CCCCC"/>
                </a:solidFill>
                <a:latin typeface="Calibri"/>
              </a:rPr>
              <a:t>React Native
.ipa via Xcode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4937760"/>
            <a:ext cx="7589520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6534"/>
                </a:solidFill>
                <a:latin typeface="Calibri"/>
              </a:rPr>
              <a:t>→  All shells load the same Hosted SPA (tv-vod.blast.dvbuilder.com)  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CCCCCC"/>
                </a:solidFill>
                <a:latin typeface="Calibri"/>
              </a:rPr>
              <a:t>Runtime bridge: </a:t>
            </a:r>
            <a:r>
              <a:rPr sz="1400" b="0">
                <a:solidFill>
                  <a:srgbClr val="CCCCCC"/>
                </a:solidFill>
                <a:latin typeface="Calibri"/>
              </a:rPr>
              <a:t>platformInit.ts registers Tizen media keys when window.tizen exists; isTV() uses webOS / tizen / ?platform= so the SPA adapts to the TV environment.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6035040"/>
            <a:ext cx="10698480" cy="640080"/>
          </a:xfrm>
          <a:prstGeom prst="roundRect">
            <a:avLst/>
          </a:prstGeom>
          <a:solidFill>
            <a:srgbClr val="2D214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8B5CF6"/>
                </a:solidFill>
                <a:latin typeface="Calibri"/>
              </a:rPr>
              <a:t>Cursor as accelerator: </a:t>
            </a:r>
            <a:r>
              <a:rPr sz="1400" b="0">
                <a:solidFill>
                  <a:srgbClr val="CCCCCC"/>
                </a:solidFill>
                <a:latin typeface="Calibri"/>
              </a:rPr>
              <a:t>The entire native shell layer was scaffolded and iterated on with Cursor (AI-assisted coding), allowing a single developer to ship shells for four OSes in a fraction of the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Demos — webOS TV App</a:t>
            </a:r>
          </a:p>
          <a:p>
            <a:r>
              <a:rPr sz="2000" b="0">
                <a:solidFill>
                  <a:srgbClr val="CCCCCC"/>
                </a:solidFill>
                <a:latin typeface="Calibri"/>
              </a:rPr>
              <a:t>Video walkthroughs of the Hosted Web App on LG webOS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194560"/>
            <a:ext cx="5029200" cy="3657600"/>
          </a:xfrm>
          <a:prstGeom prst="roundRect">
            <a:avLst/>
          </a:prstGeom>
          <a:solidFill>
            <a:srgbClr val="252538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3B82F6"/>
                </a:solidFill>
                <a:latin typeface="Calibri"/>
              </a:rPr>
              <a:t>webOS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3832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  <a:latin typeface="Calibri"/>
              </a:rPr>
              <a:t>ares-launch · webOS IDE emulator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389120"/>
            <a:ext cx="283464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▶  Watch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2120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99999"/>
                </a:solidFill>
                <a:latin typeface="Calibri"/>
              </a:rPr>
              <a:t>video-demo/lg_tv_simulator.mp4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194560"/>
            <a:ext cx="5029200" cy="3657600"/>
          </a:xfrm>
          <a:prstGeom prst="roundRect">
            <a:avLst/>
          </a:prstGeom>
          <a:solidFill>
            <a:srgbClr val="252538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7432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59E0B"/>
                </a:solidFill>
                <a:latin typeface="Calibri"/>
              </a:rPr>
              <a:t>Real LG TV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3832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  <a:latin typeface="Calibri"/>
              </a:rPr>
              <a:t>ares-install · deployed on hardware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4389120"/>
            <a:ext cx="283464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▶  Watch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52120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99999"/>
                </a:solidFill>
                <a:latin typeface="Calibri"/>
              </a:rPr>
              <a:t>video-demo/lg_tv_qbert.mp4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>
              <a:spcBef>
                <a:spcPts val="800"/>
              </a:spcBef>
            </a:pPr>
            <a:r>
              <a:rPr sz="3200" b="0">
                <a:solidFill>
                  <a:srgbClr val="CCCCCC"/>
                </a:solidFill>
                <a:latin typeface="Calibri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10896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Calibri"/>
              </a:rPr>
              <a:t>Bonus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3657600"/>
            <a:ext cx="4846320" cy="2377440"/>
          </a:xfrm>
          <a:prstGeom prst="roundRect">
            <a:avLst/>
          </a:prstGeom>
          <a:solidFill>
            <a:srgbClr val="252538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0" y="384048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59E0B"/>
                </a:solidFill>
                <a:latin typeface="Calibri"/>
              </a:rPr>
              <a:t>Android Auto — PlayVOD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43891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  <a:latin typeface="Calibri"/>
              </a:rPr>
              <a:t>The same native stack, now in your car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4937760"/>
            <a:ext cx="283464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▶  Watch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56692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99999"/>
                </a:solidFill>
                <a:latin typeface="Calibri"/>
              </a:rPr>
              <a:t>video-demo/android_auto_demo.mp4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